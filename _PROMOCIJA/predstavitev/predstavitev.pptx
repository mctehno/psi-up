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Arimo"/>
      <p:regular r:id="rId19"/>
      <p:bold r:id="rId20"/>
      <p:italic r:id="rId21"/>
      <p:boldItalic r:id="rId22"/>
    </p:embeddedFont>
    <p:embeddedFont>
      <p:font typeface="Atkinson Hyperlegible"/>
      <p:regular r:id="rId23"/>
      <p:bold r:id="rId24"/>
      <p:italic r:id="rId25"/>
      <p:boldItalic r:id="rId26"/>
    </p:embeddedFont>
    <p:embeddedFont>
      <p:font typeface="Bitter"/>
      <p:regular r:id="rId27"/>
      <p:bold r:id="rId28"/>
      <p:italic r:id="rId29"/>
      <p:boldItalic r:id="rId30"/>
    </p:embeddedFont>
    <p:embeddedFont>
      <p:font typeface="Hind Madurai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.fntdata"/><Relationship Id="rId22" Type="http://schemas.openxmlformats.org/officeDocument/2006/relationships/font" Target="fonts/Arimo-boldItalic.fntdata"/><Relationship Id="rId21" Type="http://schemas.openxmlformats.org/officeDocument/2006/relationships/font" Target="fonts/Arimo-italic.fntdata"/><Relationship Id="rId24" Type="http://schemas.openxmlformats.org/officeDocument/2006/relationships/font" Target="fonts/AtkinsonHyperlegible-bold.fntdata"/><Relationship Id="rId23" Type="http://schemas.openxmlformats.org/officeDocument/2006/relationships/font" Target="fonts/AtkinsonHyperlegibl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tkinsonHyperlegible-boldItalic.fntdata"/><Relationship Id="rId25" Type="http://schemas.openxmlformats.org/officeDocument/2006/relationships/font" Target="fonts/AtkinsonHyperlegible-italic.fntdata"/><Relationship Id="rId28" Type="http://schemas.openxmlformats.org/officeDocument/2006/relationships/font" Target="fonts/Bitter-bold.fntdata"/><Relationship Id="rId27" Type="http://schemas.openxmlformats.org/officeDocument/2006/relationships/font" Target="fonts/Bitter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itter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HindMadurai-regular.fntdata"/><Relationship Id="rId30" Type="http://schemas.openxmlformats.org/officeDocument/2006/relationships/font" Target="fonts/Bitter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HindMadurai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aleway-regular.fntdata"/><Relationship Id="rId14" Type="http://schemas.openxmlformats.org/officeDocument/2006/relationships/slide" Target="slides/slide10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Arimo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1258269c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1258269c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ac956ed6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ac956ed6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ac956ed6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ac956ed6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ac956ed6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ac956ed6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ac956ed6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ac956ed6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1e7c571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11e7c571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ac956ed6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ac956ed6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ac956ed6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ac956ed6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ac956ed6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ac956ed6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828050" y="1661100"/>
            <a:ext cx="5487900" cy="146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5000"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828050" y="3124200"/>
            <a:ext cx="54879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715090" y="2470430"/>
            <a:ext cx="32919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715090" y="1449230"/>
            <a:ext cx="1554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/>
          <p:nvPr>
            <p:ph idx="3" type="pic"/>
          </p:nvPr>
        </p:nvSpPr>
        <p:spPr>
          <a:xfrm>
            <a:off x="5110775" y="266975"/>
            <a:ext cx="3808800" cy="4609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" name="Google Shape;16;p3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152475"/>
            <a:ext cx="77040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cxnSp>
        <p:nvCxnSpPr>
          <p:cNvPr id="20" name="Google Shape;20;p4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5545798" y="2421750"/>
            <a:ext cx="2469000" cy="14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1910873" y="2421749"/>
            <a:ext cx="2469000" cy="14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1910873" y="2132240"/>
            <a:ext cx="2469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5545798" y="2132240"/>
            <a:ext cx="2469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30" name="Google Shape;30;p6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4724450" y="1272000"/>
            <a:ext cx="3383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4724450" y="1768500"/>
            <a:ext cx="3383400" cy="21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4" name="Google Shape;34;p7"/>
          <p:cNvSpPr/>
          <p:nvPr>
            <p:ph idx="2" type="pic"/>
          </p:nvPr>
        </p:nvSpPr>
        <p:spPr>
          <a:xfrm>
            <a:off x="228525" y="257979"/>
            <a:ext cx="3823800" cy="4627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5" name="Google Shape;35;p7"/>
          <p:cNvCxnSpPr/>
          <p:nvPr/>
        </p:nvCxnSpPr>
        <p:spPr>
          <a:xfrm>
            <a:off x="77343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cxnSp>
        <p:nvCxnSpPr>
          <p:cNvPr id="38" name="Google Shape;38;p8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2468850" y="1885425"/>
            <a:ext cx="4206300" cy="96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2468850" y="2695725"/>
            <a:ext cx="42063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49" name="Google Shape;49;p11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hasCustomPrompt="1" idx="2" type="title"/>
          </p:nvPr>
        </p:nvSpPr>
        <p:spPr>
          <a:xfrm>
            <a:off x="720000" y="1492646"/>
            <a:ext cx="9144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hasCustomPrompt="1" idx="3" type="title"/>
          </p:nvPr>
        </p:nvSpPr>
        <p:spPr>
          <a:xfrm>
            <a:off x="720000" y="2926054"/>
            <a:ext cx="9144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hasCustomPrompt="1" idx="4" type="title"/>
          </p:nvPr>
        </p:nvSpPr>
        <p:spPr>
          <a:xfrm>
            <a:off x="2962075" y="1492646"/>
            <a:ext cx="9144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5" type="title"/>
          </p:nvPr>
        </p:nvSpPr>
        <p:spPr>
          <a:xfrm>
            <a:off x="2962075" y="2926054"/>
            <a:ext cx="9144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hasCustomPrompt="1" idx="6" type="title"/>
          </p:nvPr>
        </p:nvSpPr>
        <p:spPr>
          <a:xfrm>
            <a:off x="5204150" y="1492646"/>
            <a:ext cx="9144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hasCustomPrompt="1" idx="7" type="title"/>
          </p:nvPr>
        </p:nvSpPr>
        <p:spPr>
          <a:xfrm>
            <a:off x="5204150" y="2926054"/>
            <a:ext cx="9144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720000" y="2056575"/>
            <a:ext cx="2103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8" type="subTitle"/>
          </p:nvPr>
        </p:nvSpPr>
        <p:spPr>
          <a:xfrm>
            <a:off x="2962075" y="2056575"/>
            <a:ext cx="2103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9" type="subTitle"/>
          </p:nvPr>
        </p:nvSpPr>
        <p:spPr>
          <a:xfrm>
            <a:off x="5204150" y="2056575"/>
            <a:ext cx="2103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3" type="subTitle"/>
          </p:nvPr>
        </p:nvSpPr>
        <p:spPr>
          <a:xfrm>
            <a:off x="720000" y="3490050"/>
            <a:ext cx="2103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14" type="subTitle"/>
          </p:nvPr>
        </p:nvSpPr>
        <p:spPr>
          <a:xfrm>
            <a:off x="2962075" y="3490050"/>
            <a:ext cx="2103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5" type="subTitle"/>
          </p:nvPr>
        </p:nvSpPr>
        <p:spPr>
          <a:xfrm>
            <a:off x="5204150" y="3490050"/>
            <a:ext cx="2103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cxnSp>
        <p:nvCxnSpPr>
          <p:cNvPr id="65" name="Google Shape;65;p13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hasCustomPrompt="1" type="title"/>
          </p:nvPr>
        </p:nvSpPr>
        <p:spPr>
          <a:xfrm>
            <a:off x="2825700" y="2042538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2825700" y="2735260"/>
            <a:ext cx="34926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" name="Google Shape;69;p14"/>
          <p:cNvSpPr txBox="1"/>
          <p:nvPr>
            <p:ph hasCustomPrompt="1" idx="2" type="title"/>
          </p:nvPr>
        </p:nvSpPr>
        <p:spPr>
          <a:xfrm>
            <a:off x="2825700" y="534989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" name="Google Shape;70;p14"/>
          <p:cNvSpPr txBox="1"/>
          <p:nvPr>
            <p:ph idx="3" type="subTitle"/>
          </p:nvPr>
        </p:nvSpPr>
        <p:spPr>
          <a:xfrm>
            <a:off x="2825700" y="1227701"/>
            <a:ext cx="34926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4"/>
          <p:cNvSpPr txBox="1"/>
          <p:nvPr>
            <p:ph hasCustomPrompt="1" idx="4" type="title"/>
          </p:nvPr>
        </p:nvSpPr>
        <p:spPr>
          <a:xfrm>
            <a:off x="2825700" y="355007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p14"/>
          <p:cNvSpPr txBox="1"/>
          <p:nvPr>
            <p:ph idx="5" type="subTitle"/>
          </p:nvPr>
        </p:nvSpPr>
        <p:spPr>
          <a:xfrm>
            <a:off x="2825700" y="4242797"/>
            <a:ext cx="34926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3" name="Google Shape;73;p14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720000" y="535000"/>
            <a:ext cx="3123900" cy="104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subTitle"/>
          </p:nvPr>
        </p:nvSpPr>
        <p:spPr>
          <a:xfrm>
            <a:off x="720000" y="1636150"/>
            <a:ext cx="31239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15"/>
          <p:cNvSpPr/>
          <p:nvPr>
            <p:ph idx="2" type="pic"/>
          </p:nvPr>
        </p:nvSpPr>
        <p:spPr>
          <a:xfrm>
            <a:off x="4355400" y="535000"/>
            <a:ext cx="1955400" cy="1955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8" name="Google Shape;78;p15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5"/>
          <p:cNvSpPr/>
          <p:nvPr>
            <p:ph idx="3" type="pic"/>
          </p:nvPr>
        </p:nvSpPr>
        <p:spPr>
          <a:xfrm>
            <a:off x="6473625" y="535000"/>
            <a:ext cx="1955400" cy="40734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5"/>
          <p:cNvSpPr/>
          <p:nvPr>
            <p:ph idx="4" type="pic"/>
          </p:nvPr>
        </p:nvSpPr>
        <p:spPr>
          <a:xfrm>
            <a:off x="2846575" y="2653225"/>
            <a:ext cx="3464100" cy="19554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5"/>
          <p:cNvSpPr/>
          <p:nvPr>
            <p:ph idx="5" type="pic"/>
          </p:nvPr>
        </p:nvSpPr>
        <p:spPr>
          <a:xfrm>
            <a:off x="720000" y="2653220"/>
            <a:ext cx="1955400" cy="1955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720000" y="1296203"/>
            <a:ext cx="2926200" cy="146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" type="subTitle"/>
          </p:nvPr>
        </p:nvSpPr>
        <p:spPr>
          <a:xfrm>
            <a:off x="720000" y="2683103"/>
            <a:ext cx="29262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85" name="Google Shape;85;p16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6"/>
          <p:cNvSpPr/>
          <p:nvPr>
            <p:ph idx="2" type="pic"/>
          </p:nvPr>
        </p:nvSpPr>
        <p:spPr>
          <a:xfrm>
            <a:off x="5110775" y="266975"/>
            <a:ext cx="3808800" cy="4609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715100" y="1137550"/>
            <a:ext cx="77040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2" type="subTitle"/>
          </p:nvPr>
        </p:nvSpPr>
        <p:spPr>
          <a:xfrm>
            <a:off x="715100" y="2135050"/>
            <a:ext cx="7704000" cy="14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3" type="subTitle"/>
          </p:nvPr>
        </p:nvSpPr>
        <p:spPr>
          <a:xfrm>
            <a:off x="715100" y="3611160"/>
            <a:ext cx="77040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92" name="Google Shape;92;p17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720000" y="2769290"/>
            <a:ext cx="2194500" cy="16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2" type="subTitle"/>
          </p:nvPr>
        </p:nvSpPr>
        <p:spPr>
          <a:xfrm>
            <a:off x="3484347" y="2769288"/>
            <a:ext cx="2194500" cy="16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3" type="subTitle"/>
          </p:nvPr>
        </p:nvSpPr>
        <p:spPr>
          <a:xfrm>
            <a:off x="6229500" y="2769288"/>
            <a:ext cx="2194500" cy="16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4" type="subTitle"/>
          </p:nvPr>
        </p:nvSpPr>
        <p:spPr>
          <a:xfrm>
            <a:off x="720000" y="2471713"/>
            <a:ext cx="2194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5" type="subTitle"/>
          </p:nvPr>
        </p:nvSpPr>
        <p:spPr>
          <a:xfrm>
            <a:off x="3484350" y="2471713"/>
            <a:ext cx="2194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6" type="subTitle"/>
          </p:nvPr>
        </p:nvSpPr>
        <p:spPr>
          <a:xfrm>
            <a:off x="6229500" y="2471713"/>
            <a:ext cx="2194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cxnSp>
        <p:nvCxnSpPr>
          <p:cNvPr id="101" name="Google Shape;101;p18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" type="subTitle"/>
          </p:nvPr>
        </p:nvSpPr>
        <p:spPr>
          <a:xfrm>
            <a:off x="1636830" y="1537695"/>
            <a:ext cx="2726400" cy="36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5" name="Google Shape;105;p19"/>
          <p:cNvSpPr txBox="1"/>
          <p:nvPr>
            <p:ph idx="2" type="subTitle"/>
          </p:nvPr>
        </p:nvSpPr>
        <p:spPr>
          <a:xfrm>
            <a:off x="1636831" y="1827195"/>
            <a:ext cx="2726400" cy="1005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3" type="subTitle"/>
          </p:nvPr>
        </p:nvSpPr>
        <p:spPr>
          <a:xfrm>
            <a:off x="5564969" y="1827195"/>
            <a:ext cx="2726400" cy="1005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4" type="subTitle"/>
          </p:nvPr>
        </p:nvSpPr>
        <p:spPr>
          <a:xfrm>
            <a:off x="1636831" y="3544280"/>
            <a:ext cx="2726400" cy="1005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5" type="subTitle"/>
          </p:nvPr>
        </p:nvSpPr>
        <p:spPr>
          <a:xfrm>
            <a:off x="5564969" y="3544280"/>
            <a:ext cx="2726400" cy="1005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6" type="subTitle"/>
          </p:nvPr>
        </p:nvSpPr>
        <p:spPr>
          <a:xfrm>
            <a:off x="1636830" y="3254780"/>
            <a:ext cx="2726400" cy="36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0" name="Google Shape;110;p19"/>
          <p:cNvSpPr txBox="1"/>
          <p:nvPr>
            <p:ph idx="7" type="subTitle"/>
          </p:nvPr>
        </p:nvSpPr>
        <p:spPr>
          <a:xfrm>
            <a:off x="5564967" y="1537695"/>
            <a:ext cx="2726400" cy="36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1" name="Google Shape;111;p19"/>
          <p:cNvSpPr txBox="1"/>
          <p:nvPr>
            <p:ph idx="8" type="subTitle"/>
          </p:nvPr>
        </p:nvSpPr>
        <p:spPr>
          <a:xfrm>
            <a:off x="5564967" y="3254780"/>
            <a:ext cx="2726400" cy="36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cxnSp>
        <p:nvCxnSpPr>
          <p:cNvPr id="112" name="Google Shape;112;p19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" type="subTitle"/>
          </p:nvPr>
        </p:nvSpPr>
        <p:spPr>
          <a:xfrm>
            <a:off x="1034718" y="1670710"/>
            <a:ext cx="1911000" cy="12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2" type="subTitle"/>
          </p:nvPr>
        </p:nvSpPr>
        <p:spPr>
          <a:xfrm>
            <a:off x="3758398" y="1670710"/>
            <a:ext cx="1911000" cy="12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3" type="subTitle"/>
          </p:nvPr>
        </p:nvSpPr>
        <p:spPr>
          <a:xfrm>
            <a:off x="1034718" y="3392472"/>
            <a:ext cx="1912200" cy="12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4" type="subTitle"/>
          </p:nvPr>
        </p:nvSpPr>
        <p:spPr>
          <a:xfrm>
            <a:off x="3758398" y="3392472"/>
            <a:ext cx="1912200" cy="12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5" type="subTitle"/>
          </p:nvPr>
        </p:nvSpPr>
        <p:spPr>
          <a:xfrm>
            <a:off x="6486582" y="1670710"/>
            <a:ext cx="1911000" cy="12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6" type="subTitle"/>
          </p:nvPr>
        </p:nvSpPr>
        <p:spPr>
          <a:xfrm>
            <a:off x="6486582" y="3392472"/>
            <a:ext cx="1911000" cy="12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7" type="subTitle"/>
          </p:nvPr>
        </p:nvSpPr>
        <p:spPr>
          <a:xfrm>
            <a:off x="1034718" y="1384425"/>
            <a:ext cx="1912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2" name="Google Shape;122;p20"/>
          <p:cNvSpPr txBox="1"/>
          <p:nvPr>
            <p:ph idx="8" type="subTitle"/>
          </p:nvPr>
        </p:nvSpPr>
        <p:spPr>
          <a:xfrm>
            <a:off x="3758398" y="1384425"/>
            <a:ext cx="1912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3" name="Google Shape;123;p20"/>
          <p:cNvSpPr txBox="1"/>
          <p:nvPr>
            <p:ph idx="9" type="subTitle"/>
          </p:nvPr>
        </p:nvSpPr>
        <p:spPr>
          <a:xfrm>
            <a:off x="6486582" y="1384425"/>
            <a:ext cx="1912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4" name="Google Shape;124;p20"/>
          <p:cNvSpPr txBox="1"/>
          <p:nvPr>
            <p:ph idx="13" type="subTitle"/>
          </p:nvPr>
        </p:nvSpPr>
        <p:spPr>
          <a:xfrm>
            <a:off x="1034718" y="3111504"/>
            <a:ext cx="1912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5" name="Google Shape;125;p20"/>
          <p:cNvSpPr txBox="1"/>
          <p:nvPr>
            <p:ph idx="14" type="subTitle"/>
          </p:nvPr>
        </p:nvSpPr>
        <p:spPr>
          <a:xfrm>
            <a:off x="3758398" y="3111504"/>
            <a:ext cx="1912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6" name="Google Shape;126;p20"/>
          <p:cNvSpPr txBox="1"/>
          <p:nvPr>
            <p:ph idx="15" type="subTitle"/>
          </p:nvPr>
        </p:nvSpPr>
        <p:spPr>
          <a:xfrm>
            <a:off x="6486582" y="3111504"/>
            <a:ext cx="1912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cxnSp>
        <p:nvCxnSpPr>
          <p:cNvPr id="127" name="Google Shape;127;p20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ctrTitle"/>
          </p:nvPr>
        </p:nvSpPr>
        <p:spPr>
          <a:xfrm>
            <a:off x="2682900" y="535000"/>
            <a:ext cx="37782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0" name="Google Shape;130;p21"/>
          <p:cNvSpPr txBox="1"/>
          <p:nvPr>
            <p:ph idx="1" type="subTitle"/>
          </p:nvPr>
        </p:nvSpPr>
        <p:spPr>
          <a:xfrm>
            <a:off x="2682900" y="1493525"/>
            <a:ext cx="37782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" name="Google Shape;131;p21"/>
          <p:cNvSpPr txBox="1"/>
          <p:nvPr/>
        </p:nvSpPr>
        <p:spPr>
          <a:xfrm>
            <a:off x="2471250" y="3496925"/>
            <a:ext cx="420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b="1"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and includes 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icons by </a:t>
            </a:r>
            <a:r>
              <a:rPr b="1" lang="en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and infographics &amp; images by </a:t>
            </a:r>
            <a:r>
              <a:rPr b="1" lang="en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highlight>
                <a:srgbClr val="DFDEFC"/>
              </a:highlight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132" name="Google Shape;132;p21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Google Shape;134;p22"/>
          <p:cNvCxnSpPr/>
          <p:nvPr/>
        </p:nvCxnSpPr>
        <p:spPr>
          <a:xfrm>
            <a:off x="228600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23"/>
          <p:cNvCxnSpPr/>
          <p:nvPr/>
        </p:nvCxnSpPr>
        <p:spPr>
          <a:xfrm>
            <a:off x="7701025" y="4864425"/>
            <a:ext cx="118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tkinson Hyperlegible"/>
              <a:buNone/>
              <a:defRPr sz="30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tkinson Hyperlegible"/>
              <a:buNone/>
              <a:defRPr sz="35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tkinson Hyperlegible"/>
              <a:buNone/>
              <a:defRPr sz="35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tkinson Hyperlegible"/>
              <a:buNone/>
              <a:defRPr sz="35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tkinson Hyperlegible"/>
              <a:buNone/>
              <a:defRPr sz="35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tkinson Hyperlegible"/>
              <a:buNone/>
              <a:defRPr sz="35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tkinson Hyperlegible"/>
              <a:buNone/>
              <a:defRPr sz="35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tkinson Hyperlegible"/>
              <a:buNone/>
              <a:defRPr sz="35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tkinson Hyperlegible"/>
              <a:buNone/>
              <a:defRPr sz="35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youtu.be/2SrEZBO5tow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ctrTitle"/>
          </p:nvPr>
        </p:nvSpPr>
        <p:spPr>
          <a:xfrm>
            <a:off x="1149050" y="1967650"/>
            <a:ext cx="7017000" cy="153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  <a:latin typeface="Bitter"/>
                <a:ea typeface="Bitter"/>
                <a:cs typeface="Bitter"/>
                <a:sym typeface="Bitter"/>
              </a:rPr>
              <a:t>Priporočilni sistem za izbiro učnih poti</a:t>
            </a:r>
            <a:endParaRPr>
              <a:solidFill>
                <a:srgbClr val="B45F06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142" name="Google Shape;142;p24"/>
          <p:cNvSpPr txBox="1"/>
          <p:nvPr>
            <p:ph idx="1" type="subTitle"/>
          </p:nvPr>
        </p:nvSpPr>
        <p:spPr>
          <a:xfrm>
            <a:off x="944600" y="3691925"/>
            <a:ext cx="7425900" cy="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D7E6B"/>
                </a:solidFill>
              </a:rPr>
              <a:t>Spletna aplikacija za usmerjanje uporabnika pri razvoju digitalnih kompetenc </a:t>
            </a:r>
            <a:endParaRPr>
              <a:solidFill>
                <a:srgbClr val="DD7E6B"/>
              </a:solidFill>
            </a:endParaRPr>
          </a:p>
        </p:txBody>
      </p:sp>
      <p:pic>
        <p:nvPicPr>
          <p:cNvPr id="143" name="Google Shape;143;p24" title="Screenshot 2026-06-10 182049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540399" cy="1123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715090" y="2470430"/>
            <a:ext cx="32919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</a:rPr>
              <a:t>Vizija</a:t>
            </a:r>
            <a:endParaRPr>
              <a:solidFill>
                <a:srgbClr val="B45F06"/>
              </a:solidFill>
            </a:endParaRPr>
          </a:p>
        </p:txBody>
      </p:sp>
      <p:sp>
        <p:nvSpPr>
          <p:cNvPr id="149" name="Google Shape;149;p25"/>
          <p:cNvSpPr txBox="1"/>
          <p:nvPr>
            <p:ph idx="2" type="title"/>
          </p:nvPr>
        </p:nvSpPr>
        <p:spPr>
          <a:xfrm>
            <a:off x="715090" y="1449230"/>
            <a:ext cx="15546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  <a:endParaRPr>
              <a:solidFill>
                <a:srgbClr val="B45F0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/>
          <p:nvPr/>
        </p:nvSpPr>
        <p:spPr>
          <a:xfrm>
            <a:off x="842500" y="969650"/>
            <a:ext cx="7368900" cy="3553800"/>
          </a:xfrm>
          <a:prstGeom prst="rect">
            <a:avLst/>
          </a:prstGeom>
          <a:solidFill>
            <a:srgbClr val="F9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6"/>
          <p:cNvSpPr txBox="1"/>
          <p:nvPr>
            <p:ph type="title"/>
          </p:nvPr>
        </p:nvSpPr>
        <p:spPr>
          <a:xfrm>
            <a:off x="47675" y="1118400"/>
            <a:ext cx="8697600" cy="29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B45F06"/>
                </a:solidFill>
              </a:rPr>
              <a:t>Iz nepregledne množice</a:t>
            </a:r>
            <a:endParaRPr sz="2700">
              <a:solidFill>
                <a:srgbClr val="B45F0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B45F06"/>
                </a:solidFill>
              </a:rPr>
              <a:t> digitalnih vsebin sistem oblikuje jasno smer,</a:t>
            </a:r>
            <a:endParaRPr sz="2700">
              <a:solidFill>
                <a:srgbClr val="B45F0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B45F06"/>
                </a:solidFill>
              </a:rPr>
              <a:t> ki uporabnika vodi od vprašanja, kje začeti, </a:t>
            </a:r>
            <a:endParaRPr sz="2700">
              <a:solidFill>
                <a:srgbClr val="B45F0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B45F06"/>
                </a:solidFill>
              </a:rPr>
              <a:t>do naslednjega smiselnega koraka.</a:t>
            </a:r>
            <a:endParaRPr sz="2700">
              <a:solidFill>
                <a:srgbClr val="B45F06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B45F0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715107" y="2470425"/>
            <a:ext cx="57363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</a:rPr>
              <a:t>Problem</a:t>
            </a:r>
            <a:endParaRPr>
              <a:solidFill>
                <a:srgbClr val="B45F06"/>
              </a:solidFill>
            </a:endParaRPr>
          </a:p>
        </p:txBody>
      </p:sp>
      <p:sp>
        <p:nvSpPr>
          <p:cNvPr id="161" name="Google Shape;161;p27"/>
          <p:cNvSpPr txBox="1"/>
          <p:nvPr>
            <p:ph idx="2" type="title"/>
          </p:nvPr>
        </p:nvSpPr>
        <p:spPr>
          <a:xfrm>
            <a:off x="715090" y="1449230"/>
            <a:ext cx="15546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>
              <a:solidFill>
                <a:srgbClr val="B45F0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/>
          <p:nvPr/>
        </p:nvSpPr>
        <p:spPr>
          <a:xfrm>
            <a:off x="842500" y="969650"/>
            <a:ext cx="7368900" cy="3553800"/>
          </a:xfrm>
          <a:prstGeom prst="rect">
            <a:avLst/>
          </a:prstGeom>
          <a:solidFill>
            <a:srgbClr val="F9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8"/>
          <p:cNvSpPr txBox="1"/>
          <p:nvPr>
            <p:ph type="title"/>
          </p:nvPr>
        </p:nvSpPr>
        <p:spPr>
          <a:xfrm>
            <a:off x="921975" y="1743750"/>
            <a:ext cx="7153200" cy="23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B45F06"/>
                </a:solidFill>
              </a:rPr>
              <a:t>Rešitev naslavlja problem nepreglednosti pri izbiri izobraževalnih vsebin.</a:t>
            </a:r>
            <a:endParaRPr sz="4000">
              <a:solidFill>
                <a:srgbClr val="B45F0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715107" y="2470425"/>
            <a:ext cx="57363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</a:rPr>
              <a:t>Rešitev</a:t>
            </a:r>
            <a:endParaRPr>
              <a:solidFill>
                <a:srgbClr val="B45F06"/>
              </a:solidFill>
            </a:endParaRPr>
          </a:p>
        </p:txBody>
      </p:sp>
      <p:sp>
        <p:nvSpPr>
          <p:cNvPr id="173" name="Google Shape;173;p29"/>
          <p:cNvSpPr txBox="1"/>
          <p:nvPr>
            <p:ph idx="2" type="title"/>
          </p:nvPr>
        </p:nvSpPr>
        <p:spPr>
          <a:xfrm>
            <a:off x="715103" y="1449225"/>
            <a:ext cx="20691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  <a:endParaRPr>
              <a:solidFill>
                <a:srgbClr val="B45F0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07625" y="140800"/>
            <a:ext cx="8698500" cy="14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B45F06"/>
                </a:solidFill>
                <a:latin typeface="Arimo"/>
                <a:ea typeface="Arimo"/>
                <a:cs typeface="Arimo"/>
                <a:sym typeface="Arimo"/>
              </a:rPr>
              <a:t>Ključne funkcionalnosti</a:t>
            </a:r>
            <a:endParaRPr b="1" sz="3300">
              <a:solidFill>
                <a:srgbClr val="B45F0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B45F0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353050" y="962350"/>
            <a:ext cx="7994700" cy="3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B45F06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2200"/>
              <a:buChar char="●"/>
            </a:pPr>
            <a:r>
              <a:rPr lang="en" sz="2200">
                <a:solidFill>
                  <a:srgbClr val="B45F06"/>
                </a:solidFill>
              </a:rPr>
              <a:t>- strukturiran pregled učnih poti, modulov in učnih enot,</a:t>
            </a:r>
            <a:endParaRPr sz="2200">
              <a:solidFill>
                <a:srgbClr val="B45F0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B45F06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2200"/>
              <a:buChar char="●"/>
            </a:pPr>
            <a:r>
              <a:rPr lang="en" sz="2200">
                <a:solidFill>
                  <a:srgbClr val="B45F06"/>
                </a:solidFill>
              </a:rPr>
              <a:t>- samoocenjevalni vprašalnik za določanje izhodiščnega znanja,</a:t>
            </a:r>
            <a:endParaRPr sz="2200">
              <a:solidFill>
                <a:srgbClr val="B45F0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B45F06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2200"/>
              <a:buChar char="●"/>
            </a:pPr>
            <a:r>
              <a:rPr lang="en" sz="2200">
                <a:solidFill>
                  <a:srgbClr val="B45F06"/>
                </a:solidFill>
              </a:rPr>
              <a:t>- glasovna pomoč pri vprašalniku za bolj dostopno in uporabniku prijazno izpolnjevanje,</a:t>
            </a:r>
            <a:endParaRPr sz="2200">
              <a:solidFill>
                <a:srgbClr val="B45F0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B45F06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2200"/>
              <a:buChar char="●"/>
            </a:pPr>
            <a:r>
              <a:rPr lang="en" sz="2200">
                <a:solidFill>
                  <a:srgbClr val="B45F06"/>
                </a:solidFill>
              </a:rPr>
              <a:t>- prikaz rezultatov samoocene in napredka skozi učno strukturo,</a:t>
            </a:r>
            <a:endParaRPr sz="2200">
              <a:solidFill>
                <a:srgbClr val="B45F0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307625" y="140800"/>
            <a:ext cx="8698500" cy="14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B45F06"/>
                </a:solidFill>
              </a:rPr>
              <a:t>Ključne funkcionalnosti</a:t>
            </a:r>
            <a:endParaRPr b="1" sz="33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B45F06"/>
              </a:solidFill>
            </a:endParaRPr>
          </a:p>
        </p:txBody>
      </p:sp>
      <p:sp>
        <p:nvSpPr>
          <p:cNvPr id="185" name="Google Shape;185;p31"/>
          <p:cNvSpPr txBox="1"/>
          <p:nvPr>
            <p:ph idx="1" type="body"/>
          </p:nvPr>
        </p:nvSpPr>
        <p:spPr>
          <a:xfrm>
            <a:off x="353050" y="962350"/>
            <a:ext cx="7994700" cy="3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2000"/>
              <a:buChar char="●"/>
            </a:pPr>
            <a:r>
              <a:rPr lang="en" sz="2000">
                <a:solidFill>
                  <a:srgbClr val="B45F06"/>
                </a:solidFill>
              </a:rPr>
              <a:t>- priporočanje primerne učne poti oziroma naslednjega koraka,</a:t>
            </a:r>
            <a:endParaRPr sz="2000">
              <a:solidFill>
                <a:srgbClr val="B45F0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B45F06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2000"/>
              <a:buChar char="●"/>
            </a:pPr>
            <a:r>
              <a:rPr lang="en" sz="2000">
                <a:solidFill>
                  <a:srgbClr val="B45F06"/>
                </a:solidFill>
              </a:rPr>
              <a:t>- shranjevanje, označevanje priljubljenih in zaključevanje učnih vsebin,</a:t>
            </a:r>
            <a:endParaRPr sz="20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B45F06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2000"/>
              <a:buChar char="●"/>
            </a:pPr>
            <a:r>
              <a:rPr lang="en" sz="2000">
                <a:solidFill>
                  <a:srgbClr val="B45F06"/>
                </a:solidFill>
              </a:rPr>
              <a:t>- spremljanje trenutne pozicije uporabnika znotraj učne vsebine,</a:t>
            </a:r>
            <a:endParaRPr sz="2000">
              <a:solidFill>
                <a:srgbClr val="B45F0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B45F06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2000"/>
              <a:buChar char="●"/>
            </a:pPr>
            <a:r>
              <a:rPr lang="en" sz="2000">
                <a:solidFill>
                  <a:srgbClr val="B45F06"/>
                </a:solidFill>
              </a:rPr>
              <a:t>- iskanje po učnih poteh, modulih in učnih enotah,</a:t>
            </a:r>
            <a:endParaRPr sz="2000">
              <a:solidFill>
                <a:srgbClr val="B45F0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B45F06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2000"/>
              <a:buChar char="●"/>
            </a:pPr>
            <a:r>
              <a:rPr lang="en" sz="2000">
                <a:solidFill>
                  <a:srgbClr val="B45F06"/>
                </a:solidFill>
              </a:rPr>
              <a:t>- kontekstualni AI pomočnik za podporo pri razumevanju vprašanj in učnih vsebin</a:t>
            </a:r>
            <a:endParaRPr sz="2000">
              <a:solidFill>
                <a:srgbClr val="B45F0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715107" y="2470425"/>
            <a:ext cx="57363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Demo video</a:t>
            </a:r>
            <a:endParaRPr>
              <a:solidFill>
                <a:srgbClr val="B45F06"/>
              </a:solidFill>
            </a:endParaRPr>
          </a:p>
        </p:txBody>
      </p:sp>
      <p:sp>
        <p:nvSpPr>
          <p:cNvPr id="191" name="Google Shape;191;p32"/>
          <p:cNvSpPr txBox="1"/>
          <p:nvPr>
            <p:ph idx="2" type="title"/>
          </p:nvPr>
        </p:nvSpPr>
        <p:spPr>
          <a:xfrm>
            <a:off x="715103" y="1449225"/>
            <a:ext cx="20691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  <a:endParaRPr>
              <a:solidFill>
                <a:srgbClr val="B45F0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oracic Drainage Clinical Case by Slidesgo">
  <a:themeElements>
    <a:clrScheme name="Simple Light">
      <a:dk1>
        <a:srgbClr val="331909"/>
      </a:dk1>
      <a:lt1>
        <a:srgbClr val="E2732F"/>
      </a:lt1>
      <a:dk2>
        <a:srgbClr val="FBAE7F"/>
      </a:dk2>
      <a:lt2>
        <a:srgbClr val="FFF5D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190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